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शुरुआत" id="{3935e8d8-254f-be39-12b8-00dd0bb6318e}">
          <p14:sldIdLst>
            <p14:sldId id="256"/>
          </p14:sldIdLst>
        </p14:section>
        <p14:section name="शासन, योजनाएँ एवं नीतियाँ" id="{550b926c-96bc-9847-d712-2c298134526b}">
          <p14:sldIdLst>
            <p14:sldId id="257"/>
            <p14:sldId id="258"/>
            <p14:sldId id="259"/>
            <p14:sldId id="260"/>
            <p14:sldId id="261"/>
          </p14:sldIdLst>
        </p14:section>
        <p14:section name="शिक्षा, स्वास्थ्य, कृषि एवं पर्यावरण" id="{1ff640e7-49b9-b68d-a344-ca5a9a7dd4db}">
          <p14:sldIdLst>
            <p14:sldId id="262"/>
            <p14:sldId id="263"/>
            <p14:sldId id="264"/>
            <p14:sldId id="265"/>
            <p14:sldId id="266"/>
          </p14:sldIdLst>
        </p14:section>
        <p14:section name="उद्योग, पर्यटन, खेल एवं रैंकिंग" id="{b0bca8a6-33b5-c51a-681a-b889573c365d}">
          <p14:sldIdLst>
            <p14:sldId id="267"/>
            <p14:sldId id="268"/>
            <p14:sldId id="269"/>
            <p14:sldId id="270"/>
            <p14:sldId id="271"/>
          </p14:sldIdLst>
        </p14:section>
        <p14:section name="पुरस्कार एवं सम्मान" id="{ec5f8013-e560-fd81-6e5d-3e2d9d1c8126}">
          <p14:sldIdLst>
            <p14:sldId id="272"/>
            <p14:sldId id="273"/>
            <p14:sldId id="274"/>
            <p14:sldId id="275"/>
            <p14:sldId id="276"/>
          </p14:sldIdLst>
        </p14:section>
        <p14:section name="UP बजट एवं फरवरी 2026" id="{6ca89f01-f6d6-2c36-46e7-c68c48c60491}">
          <p14:sldIdLst>
            <p14:sldId id="277"/>
            <p14:sldId id="278"/>
            <p14:sldId id="279"/>
            <p14:sldId id="280"/>
            <p14:sldId id="281"/>
          </p14:sldIdLst>
        </p14:section>
        <p14:section name="समापन" id="{49719339-004b-124d-4e32-733893abba5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UPSSSC ALERT  ·  Telegram 👉 @upssscalert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28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UPSSSC ALERT  ·  Telegram 👉 @upssscalert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UPSSSC ALERT  ·  Telegram 👉 @upssscalert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big"/>
          <p:cNvSpPr/>
          <p:nvPr/>
        </p:nvSpPr>
        <p:spPr>
          <a:xfrm>
            <a:off x="7863840" y="-822960"/>
            <a:ext cx="4572000" cy="4572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" name="circle-small"/>
          <p:cNvSpPr/>
          <p:nvPr/>
        </p:nvSpPr>
        <p:spPr>
          <a:xfrm>
            <a:off x="9966960" y="3931920"/>
            <a:ext cx="2377440" cy="2377440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4" name="big-100"/>
          <p:cNvSpPr txBox="1"/>
          <p:nvPr/>
        </p:nvSpPr>
        <p:spPr>
          <a:xfrm>
            <a:off x="8138160" y="365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100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103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तथ्य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chemeClr val="accent3"/>
                </a:solidFill>
              </a:rPr>
              <a:t>UPSSSC ALERT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उत्तर प्रदेश करेंट अफेयर्स 2026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BF5"/>
                </a:solidFill>
              </a:rPr>
              <a:t>जनवरी – फरवरी 2026 · UPSSSC PET, RO/ARO, VDO व अन्य परीक्षाओं के लिए</a:t>
            </a:r>
            <a:endParaRPr lang="en-US" sz="2000" dirty="0"/>
          </a:p>
        </p:txBody>
      </p:sp>
      <p:sp>
        <p:nvSpPr>
          <p:cNvPr id="9" name="cta"/>
          <p:cNvSpPr/>
          <p:nvPr/>
        </p:nvSpPr>
        <p:spPr>
          <a:xfrm>
            <a:off x="548640" y="4389120"/>
            <a:ext cx="4206240" cy="68580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389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Telegram 👉 @upssscalert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शासन, योजनाएँ एवं नीतियाँ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जनवरी 2026  ·  तथ्य 1–20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शासन, योजनाएँ एवं नीतियाँ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1–5</a:t>
            </a:r>
            <a:endParaRPr lang="en-US" sz="1500" dirty="0"/>
          </a:p>
        </p:txBody>
      </p:sp>
      <p:sp>
        <p:nvSpPr>
          <p:cNvPr id="5" name="card-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fact-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लखनऊ स्थित राज्यपाल आवास 'राजभवन' का नया नाम 'जन भवन' रखा गया है।</a:t>
            </a:r>
            <a:endParaRPr lang="en-US" sz="1800" dirty="0"/>
          </a:p>
        </p:txBody>
      </p:sp>
      <p:sp>
        <p:nvSpPr>
          <p:cNvPr id="9" name="card-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fact-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उत्तर प्रदेश दिवस (24 जनवरी) 2026 में 76वाँ स्थापना दिवस मनाया गया।</a:t>
            </a:r>
            <a:endParaRPr lang="en-US" sz="1800" dirty="0"/>
          </a:p>
        </p:txBody>
      </p:sp>
      <p:sp>
        <p:nvSpPr>
          <p:cNvPr id="13" name="card-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fact-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दिवस 2026 की थीम — 'विकसित भारत, विकसित उत्तर प्रदेश'।</a:t>
            </a:r>
            <a:endParaRPr lang="en-US" sz="1800" dirty="0"/>
          </a:p>
        </p:txBody>
      </p:sp>
      <p:sp>
        <p:nvSpPr>
          <p:cNvPr id="17" name="card-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fact-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दिवस पहली बार 2018 में मनाया गया; घोषणा 2017 में राज्यपाल राम नाईक ने की थी।</a:t>
            </a:r>
            <a:endParaRPr lang="en-US" sz="1800" dirty="0"/>
          </a:p>
        </p:txBody>
      </p:sp>
      <p:sp>
        <p:nvSpPr>
          <p:cNvPr id="21" name="card-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fact-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 फरवरी 2026 से संपत्ति पंजीकरण में आधार प्रमाणीकरण (e-KYC व बायोमेट्रिक) अनिवार्य।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शासन, योजनाएँ एवं नीतियाँ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6–10</a:t>
            </a:r>
            <a:endParaRPr lang="en-US" sz="1500" dirty="0"/>
          </a:p>
        </p:txBody>
      </p:sp>
      <p:sp>
        <p:nvSpPr>
          <p:cNvPr id="5" name="card-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fact-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86वाँ अखिल भारतीय पीठासीन अधिकारी सम्मेलन (AIPOC) 19–21 जनवरी को लखनऊ में हुआ।</a:t>
            </a:r>
            <a:endParaRPr lang="en-US" sz="1800" dirty="0"/>
          </a:p>
        </p:txBody>
      </p:sp>
      <p:sp>
        <p:nvSpPr>
          <p:cNvPr id="9" name="card-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12" name="fact-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AIPOC का उद्घाटन राज्यपाल आनंदीबेन पटेल ने किया; मुख्य अतिथि — लोकसभा अध्यक्ष ओम बिरला।</a:t>
            </a:r>
            <a:endParaRPr lang="en-US" sz="1800" dirty="0"/>
          </a:p>
        </p:txBody>
      </p:sp>
      <p:sp>
        <p:nvSpPr>
          <p:cNvPr id="13" name="card-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16" name="fact-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GCC नीति 2025 के क्रियान्वयन के लिए 'इन्वेस्ट यूपी' नोडल एजेंसी बनी।</a:t>
            </a:r>
            <a:endParaRPr lang="en-US" sz="1800" dirty="0"/>
          </a:p>
        </p:txBody>
      </p:sp>
      <p:sp>
        <p:nvSpPr>
          <p:cNvPr id="17" name="card-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0" name="fact-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पंचायती राज विभाग का नया मासिक न्यूज़लेटर — 'पंचायतों की प्रगति गाथा'।</a:t>
            </a:r>
            <a:endParaRPr lang="en-US" sz="1800" dirty="0"/>
          </a:p>
        </p:txBody>
      </p:sp>
      <p:sp>
        <p:nvSpPr>
          <p:cNvPr id="21" name="card-1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1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24" name="fact-1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'एक जिला-एक व्यंजन' (ODOC) योजना अमित शाह ने UP दिवस पर लॉन्च की।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शासन, योजनाएँ एवं नीतियाँ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11–15</a:t>
            </a:r>
            <a:endParaRPr lang="en-US" sz="1500" dirty="0"/>
          </a:p>
        </p:txBody>
      </p:sp>
      <p:sp>
        <p:nvSpPr>
          <p:cNvPr id="5" name="card-1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1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8" name="fact-1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ODOC का उद्देश्य — जैसे मथुरा का पेड़ा, मैनपुरी की सोनपापड़ी को पहचान दिलाना।</a:t>
            </a:r>
            <a:endParaRPr lang="en-US" sz="1800" dirty="0"/>
          </a:p>
        </p:txBody>
      </p:sp>
      <p:sp>
        <p:nvSpPr>
          <p:cNvPr id="9" name="card-1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1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12" name="fact-1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सरदार वल्लभभाई पटेल रोजगार एवं औद्योगिक क्षेत्र कार्यक्रम — सभी 75 जिलों में 50–100 एकड़ के क्लस्टर।</a:t>
            </a:r>
            <a:endParaRPr lang="en-US" sz="1800" dirty="0"/>
          </a:p>
        </p:txBody>
      </p:sp>
      <p:sp>
        <p:nvSpPr>
          <p:cNvPr id="13" name="card-1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1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16" name="fact-1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राज्य की पहली एजुकेशन टाउनशिप — लखनऊ, प्रयागराज, कानपुर और वाराणसी में।</a:t>
            </a:r>
            <a:endParaRPr lang="en-US" sz="1800" dirty="0"/>
          </a:p>
        </p:txBody>
      </p:sp>
      <p:sp>
        <p:nvSpPr>
          <p:cNvPr id="17" name="card-1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1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20" name="fact-1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पीएम सूर्य घर योजना में रूफटॉप सोलर लगाने में लखनऊ (लगभग 62,000) प्रदेश में प्रथम।</a:t>
            </a:r>
            <a:endParaRPr lang="en-US" sz="1800" dirty="0"/>
          </a:p>
        </p:txBody>
      </p:sp>
      <p:sp>
        <p:nvSpPr>
          <p:cNvPr id="21" name="card-1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1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24" name="fact-1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अनुपूरक बजट 2025-26 — ₹24,496.98 करोड़।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शासन, योजनाएँ एवं नीतियाँ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16–20</a:t>
            </a:r>
            <a:endParaRPr lang="en-US" sz="1500" dirty="0"/>
          </a:p>
        </p:txBody>
      </p:sp>
      <p:sp>
        <p:nvSpPr>
          <p:cNvPr id="5" name="card-1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1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16</a:t>
            </a:r>
            <a:endParaRPr lang="en-US" sz="1600" dirty="0"/>
          </a:p>
        </p:txBody>
      </p:sp>
      <p:sp>
        <p:nvSpPr>
          <p:cNvPr id="8" name="fact-1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अनुपूरक बजट के बाद 2025-26 का कुल बजट लगभग ₹8,33,233.04 करोड़ हुआ।</a:t>
            </a:r>
            <a:endParaRPr lang="en-US" sz="1800" dirty="0"/>
          </a:p>
        </p:txBody>
      </p:sp>
      <p:sp>
        <p:nvSpPr>
          <p:cNvPr id="9" name="card-1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1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17</a:t>
            </a:r>
            <a:endParaRPr lang="en-US" sz="1600" dirty="0"/>
          </a:p>
        </p:txBody>
      </p:sp>
      <p:sp>
        <p:nvSpPr>
          <p:cNvPr id="12" name="fact-1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माघ मेला 2026 के लिए मुख्यमंत्री ने 'माघ मेला सेवा ऐप' लॉन्च किया।</a:t>
            </a:r>
            <a:endParaRPr lang="en-US" sz="1800" dirty="0"/>
          </a:p>
        </p:txBody>
      </p:sp>
      <p:sp>
        <p:nvSpPr>
          <p:cNvPr id="13" name="card-1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1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18</a:t>
            </a:r>
            <a:endParaRPr lang="en-US" sz="1600" dirty="0"/>
          </a:p>
        </p:txBody>
      </p:sp>
      <p:sp>
        <p:nvSpPr>
          <p:cNvPr id="16" name="fact-1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लखनऊ को भारत की पहली 'AI सिटी' बनाने हेतु इंडिया AI और UPDESCO के बीच समझौता।</a:t>
            </a:r>
            <a:endParaRPr lang="en-US" sz="1800" dirty="0"/>
          </a:p>
        </p:txBody>
      </p:sp>
      <p:sp>
        <p:nvSpPr>
          <p:cNvPr id="17" name="card-1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1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19</a:t>
            </a:r>
            <a:endParaRPr lang="en-US" sz="1600" dirty="0"/>
          </a:p>
        </p:txBody>
      </p:sp>
      <p:sp>
        <p:nvSpPr>
          <p:cNvPr id="20" name="fact-1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पुलिस ने अपराधियों की AI-आधारित निगरानी के लिए 'यक्ष ऐप' लॉन्च किया।</a:t>
            </a:r>
            <a:endParaRPr lang="en-US" sz="1800" dirty="0"/>
          </a:p>
        </p:txBody>
      </p:sp>
      <p:sp>
        <p:nvSpPr>
          <p:cNvPr id="21" name="card-2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2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24" name="fact-2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संभल — न्यायालय की कार्यवाही में AI का उपयोग करने वाला प्रदेश का पहला जिला।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शिक्षा, स्वास्थ्य, कृषि एवं पर्यावरण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जनवरी 2026  ·  तथ्य 21–40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शिक्षा, स्वास्थ्य, कृषि एवं पर्यावरण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21–25</a:t>
            </a:r>
            <a:endParaRPr lang="en-US" sz="1500" dirty="0"/>
          </a:p>
        </p:txBody>
      </p:sp>
      <p:sp>
        <p:nvSpPr>
          <p:cNvPr id="5" name="card-2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2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21</a:t>
            </a:r>
            <a:endParaRPr lang="en-US" sz="1600" dirty="0"/>
          </a:p>
        </p:txBody>
      </p:sp>
      <p:sp>
        <p:nvSpPr>
          <p:cNvPr id="8" name="fact-2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भारत का पहला 'AI-सक्षम राज्य विश्वविद्यालय' पायलट — CCSU, मेरठ (MSDE व Google Cloud के सहयोग से)।</a:t>
            </a:r>
            <a:endParaRPr lang="en-US" sz="1800" dirty="0"/>
          </a:p>
        </p:txBody>
      </p:sp>
      <p:sp>
        <p:nvSpPr>
          <p:cNvPr id="9" name="card-2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2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22</a:t>
            </a:r>
            <a:endParaRPr lang="en-US" sz="1600" dirty="0"/>
          </a:p>
        </p:txBody>
      </p:sp>
      <p:sp>
        <p:nvSpPr>
          <p:cNvPr id="12" name="fact-2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की पहली राज्य स्तरीय ब्रेल लाइब्रेरी — DSMNRU, लखनऊ में खुली।</a:t>
            </a:r>
            <a:endParaRPr lang="en-US" sz="1800" dirty="0"/>
          </a:p>
        </p:txBody>
      </p:sp>
      <p:sp>
        <p:nvSpPr>
          <p:cNvPr id="13" name="card-2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2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23</a:t>
            </a:r>
            <a:endParaRPr lang="en-US" sz="1600" dirty="0"/>
          </a:p>
        </p:txBody>
      </p:sp>
      <p:sp>
        <p:nvSpPr>
          <p:cNvPr id="16" name="fact-2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विश्व ब्रेल दिवस (4 जनवरी) 2026 की थीम — 'स्पर्श से सशक्तिकरण'।</a:t>
            </a:r>
            <a:endParaRPr lang="en-US" sz="1800" dirty="0"/>
          </a:p>
        </p:txBody>
      </p:sp>
      <p:sp>
        <p:nvSpPr>
          <p:cNvPr id="17" name="card-2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2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24</a:t>
            </a:r>
            <a:endParaRPr lang="en-US" sz="1600" dirty="0"/>
          </a:p>
        </p:txBody>
      </p:sp>
      <p:sp>
        <p:nvSpPr>
          <p:cNvPr id="20" name="fact-2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देश का पहला सरकारी अस्पताल आधारित AI क्लीनिक — GIMS, ग्रेटर नोएडा।</a:t>
            </a:r>
            <a:endParaRPr lang="en-US" sz="1800" dirty="0"/>
          </a:p>
        </p:txBody>
      </p:sp>
      <p:sp>
        <p:nvSpPr>
          <p:cNvPr id="21" name="card-2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2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25</a:t>
            </a:r>
            <a:endParaRPr lang="en-US" sz="1600" dirty="0"/>
          </a:p>
        </p:txBody>
      </p:sp>
      <p:sp>
        <p:nvSpPr>
          <p:cNvPr id="24" name="fact-2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हेल्थ टेक कॉन्क्लेव 1.0 (लखनऊ) में IMRAS सॉफ्टवेयर लॉन्च हुआ।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शिक्षा, स्वास्थ्य, कृषि एवं पर्यावरण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26–30</a:t>
            </a:r>
            <a:endParaRPr lang="en-US" sz="1500" dirty="0"/>
          </a:p>
        </p:txBody>
      </p:sp>
      <p:sp>
        <p:nvSpPr>
          <p:cNvPr id="5" name="card-2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2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26</a:t>
            </a:r>
            <a:endParaRPr lang="en-US" sz="1600" dirty="0"/>
          </a:p>
        </p:txBody>
      </p:sp>
      <p:sp>
        <p:nvSpPr>
          <p:cNvPr id="8" name="fact-2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वाराणसी के कबीरचौरा मंडलीय चिकित्सालय में 500 बिस्तरों के सुपर स्पेशलिटी ब्लॉक को मंजूरी।</a:t>
            </a:r>
            <a:endParaRPr lang="en-US" sz="1800" dirty="0"/>
          </a:p>
        </p:txBody>
      </p:sp>
      <p:sp>
        <p:nvSpPr>
          <p:cNvPr id="9" name="card-2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2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27</a:t>
            </a:r>
            <a:endParaRPr lang="en-US" sz="1600" dirty="0"/>
          </a:p>
        </p:txBody>
      </p:sp>
      <p:sp>
        <p:nvSpPr>
          <p:cNvPr id="12" name="fact-2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अंतर्देशीय (Inland) मत्स्य पालन में उत्तर प्रदेश भारत में प्रथम।</a:t>
            </a:r>
            <a:endParaRPr lang="en-US" sz="1800" dirty="0"/>
          </a:p>
        </p:txBody>
      </p:sp>
      <p:sp>
        <p:nvSpPr>
          <p:cNvPr id="13" name="card-2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2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28</a:t>
            </a:r>
            <a:endParaRPr lang="en-US" sz="1600" dirty="0"/>
          </a:p>
        </p:txBody>
      </p:sp>
      <p:sp>
        <p:nvSpPr>
          <p:cNvPr id="16" name="fact-2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कुल मछली उत्पादन में आंध्र प्रदेश प्रथम है।</a:t>
            </a:r>
            <a:endParaRPr lang="en-US" sz="1800" dirty="0"/>
          </a:p>
        </p:txBody>
      </p:sp>
      <p:sp>
        <p:nvSpPr>
          <p:cNvPr id="17" name="card-2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2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29</a:t>
            </a:r>
            <a:endParaRPr lang="en-US" sz="1600" dirty="0"/>
          </a:p>
        </p:txBody>
      </p:sp>
      <p:sp>
        <p:nvSpPr>
          <p:cNvPr id="20" name="fact-2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चावल उत्पादन में UP दूसरे स्थान पर (प्रथम — पश्चिम बंगाल, तीसरा — तेलंगाना)।</a:t>
            </a:r>
            <a:endParaRPr lang="en-US" sz="1800" dirty="0"/>
          </a:p>
        </p:txBody>
      </p:sp>
      <p:sp>
        <p:nvSpPr>
          <p:cNvPr id="21" name="card-3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3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30</a:t>
            </a:r>
            <a:endParaRPr lang="en-US" sz="1600" dirty="0"/>
          </a:p>
        </p:txBody>
      </p:sp>
      <p:sp>
        <p:nvSpPr>
          <p:cNvPr id="24" name="fact-3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बाराबंकी की पूजा पाल को 'धूल-मुक्त गेहूँ थ्रेशर' के लिए प्रधानमंत्री राष्ट्रीय बाल पुरस्कार।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शिक्षा, स्वास्थ्य, कृषि एवं पर्यावरण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31–35</a:t>
            </a:r>
            <a:endParaRPr lang="en-US" sz="1500" dirty="0"/>
          </a:p>
        </p:txBody>
      </p:sp>
      <p:sp>
        <p:nvSpPr>
          <p:cNvPr id="5" name="card-3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3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31</a:t>
            </a:r>
            <a:endParaRPr lang="en-US" sz="1600" dirty="0"/>
          </a:p>
        </p:txBody>
      </p:sp>
      <p:sp>
        <p:nvSpPr>
          <p:cNvPr id="8" name="fact-3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पटना पक्षी अभयारण्य (एटा) — UP का 11वाँ और भारत का 97वाँ रामसर स्थल।</a:t>
            </a:r>
            <a:endParaRPr lang="en-US" sz="1800" dirty="0"/>
          </a:p>
        </p:txBody>
      </p:sp>
      <p:sp>
        <p:nvSpPr>
          <p:cNvPr id="9" name="card-3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3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32</a:t>
            </a:r>
            <a:endParaRPr lang="en-US" sz="1600" dirty="0"/>
          </a:p>
        </p:txBody>
      </p:sp>
      <p:sp>
        <p:nvSpPr>
          <p:cNvPr id="12" name="fact-3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पटना पक्षी विहार उत्तर प्रदेश का सबसे छोटा पक्षी विहार है।</a:t>
            </a:r>
            <a:endParaRPr lang="en-US" sz="1800" dirty="0"/>
          </a:p>
        </p:txBody>
      </p:sp>
      <p:sp>
        <p:nvSpPr>
          <p:cNvPr id="13" name="card-3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3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33</a:t>
            </a:r>
            <a:endParaRPr lang="en-US" sz="1600" dirty="0"/>
          </a:p>
        </p:txBody>
      </p:sp>
      <p:sp>
        <p:nvSpPr>
          <p:cNvPr id="16" name="fact-3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पार्वती अरगा पक्षी अभयारण्य (गोंडा) 'इको-सेंसिटिव ज़ोन' घोषित।</a:t>
            </a:r>
            <a:endParaRPr lang="en-US" sz="1800" dirty="0"/>
          </a:p>
        </p:txBody>
      </p:sp>
      <p:sp>
        <p:nvSpPr>
          <p:cNvPr id="17" name="card-3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3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34</a:t>
            </a:r>
            <a:endParaRPr lang="en-US" sz="1600" dirty="0"/>
          </a:p>
        </p:txBody>
      </p:sp>
      <p:sp>
        <p:nvSpPr>
          <p:cNvPr id="20" name="fact-3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दूसरी राष्ट्रव्यापी डॉल्फिन गणना बिजनौर से 'प्रोजेक्ट डॉल्फिन' के तहत शुरू हुई।</a:t>
            </a:r>
            <a:endParaRPr lang="en-US" sz="1800" dirty="0"/>
          </a:p>
        </p:txBody>
      </p:sp>
      <p:sp>
        <p:nvSpPr>
          <p:cNvPr id="21" name="card-3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3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35</a:t>
            </a:r>
            <a:endParaRPr lang="en-US" sz="1600" dirty="0"/>
          </a:p>
        </p:txBody>
      </p:sp>
      <p:sp>
        <p:nvSpPr>
          <p:cNvPr id="24" name="fact-3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लखनऊ — UP का पहला 'ज़ीरो फ्रेश वेस्ट डंप' शहर बना।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शिक्षा, स्वास्थ्य, कृषि एवं पर्यावरण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36–40</a:t>
            </a:r>
            <a:endParaRPr lang="en-US" sz="1500" dirty="0"/>
          </a:p>
        </p:txBody>
      </p:sp>
      <p:sp>
        <p:nvSpPr>
          <p:cNvPr id="5" name="card-3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3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36</a:t>
            </a:r>
            <a:endParaRPr lang="en-US" sz="1600" dirty="0"/>
          </a:p>
        </p:txBody>
      </p:sp>
      <p:sp>
        <p:nvSpPr>
          <p:cNvPr id="8" name="fact-3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IIT कानपुर ने भारत का पहला स्वदेशी चार पैरों वाला रोबोट 'SCORP' विकसित किया।</a:t>
            </a:r>
            <a:endParaRPr lang="en-US" sz="1800" dirty="0"/>
          </a:p>
        </p:txBody>
      </p:sp>
      <p:sp>
        <p:nvSpPr>
          <p:cNvPr id="9" name="card-3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3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37</a:t>
            </a:r>
            <a:endParaRPr lang="en-US" sz="1600" dirty="0"/>
          </a:p>
        </p:txBody>
      </p:sp>
      <p:sp>
        <p:nvSpPr>
          <p:cNvPr id="12" name="fact-3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रीजनल AI इम्पैक्ट सम्मेलन 2026 (लखनऊ) में ₹2,000 करोड़ के 'यूपी AI मिशन' की घोषणा।</a:t>
            </a:r>
            <a:endParaRPr lang="en-US" sz="1800" dirty="0"/>
          </a:p>
        </p:txBody>
      </p:sp>
      <p:sp>
        <p:nvSpPr>
          <p:cNvPr id="13" name="card-3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3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38</a:t>
            </a:r>
            <a:endParaRPr lang="en-US" sz="1600" dirty="0"/>
          </a:p>
        </p:txBody>
      </p:sp>
      <p:sp>
        <p:nvSpPr>
          <p:cNvPr id="16" name="fact-3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स्वास्थ्य में AI के लिए NHA ने IIT कानपुर में 'फेडरेटेड इंटेलिजेंस हैकथॉन' कराया।</a:t>
            </a:r>
            <a:endParaRPr lang="en-US" sz="1800" dirty="0"/>
          </a:p>
        </p:txBody>
      </p:sp>
      <p:sp>
        <p:nvSpPr>
          <p:cNvPr id="17" name="card-3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3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39</a:t>
            </a:r>
            <a:endParaRPr lang="en-US" sz="1600" dirty="0"/>
          </a:p>
        </p:txBody>
      </p:sp>
      <p:sp>
        <p:nvSpPr>
          <p:cNvPr id="20" name="fact-3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AI, VR व 3D प्रिंटिंग सिखाने के लिए UP सरकार का NASSCOM (फ्यूचरस्किल्स प्राइम) से समझौता।</a:t>
            </a:r>
            <a:endParaRPr lang="en-US" sz="1800" dirty="0"/>
          </a:p>
        </p:txBody>
      </p:sp>
      <p:sp>
        <p:nvSpPr>
          <p:cNvPr id="21" name="card-4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4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40</a:t>
            </a:r>
            <a:endParaRPr lang="en-US" sz="1600" dirty="0"/>
          </a:p>
        </p:txBody>
      </p:sp>
      <p:sp>
        <p:nvSpPr>
          <p:cNvPr id="24" name="fact-4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CJI सूर्यकांत ने चंदौली सहित 6 जिलों में एकीकृत न्यायालय परिसरों की आधारशिला रखी।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उद्योग, पर्यटन, खेल एवं रैंकिंग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जनवरी 2026  ·  तथ्य 41–60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उद्योग, पर्यटन, खेल एवं रैंकिंग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41–45</a:t>
            </a:r>
            <a:endParaRPr lang="en-US" sz="1500" dirty="0"/>
          </a:p>
        </p:txBody>
      </p:sp>
      <p:sp>
        <p:nvSpPr>
          <p:cNvPr id="5" name="card-4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4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41</a:t>
            </a:r>
            <a:endParaRPr lang="en-US" sz="1600" dirty="0"/>
          </a:p>
        </p:txBody>
      </p:sp>
      <p:sp>
        <p:nvSpPr>
          <p:cNvPr id="8" name="fact-4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पूर्वांचल का पहला यार्न (धागा) प्रोसेसिंग प्लांट — मिर्जापुर (₹8 करोड़, PPP मॉडल)।</a:t>
            </a:r>
            <a:endParaRPr lang="en-US" sz="1800" dirty="0"/>
          </a:p>
        </p:txBody>
      </p:sp>
      <p:sp>
        <p:nvSpPr>
          <p:cNvPr id="9" name="card-4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4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42</a:t>
            </a:r>
            <a:endParaRPr lang="en-US" sz="1600" dirty="0"/>
          </a:p>
        </p:txBody>
      </p:sp>
      <p:sp>
        <p:nvSpPr>
          <p:cNvPr id="12" name="fact-4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अशोक लीलैंड का इलेक्ट्रिक बस (EV) संयंत्र — लखनऊ (सरोजनी नगर), उद्घाटन राजनाथ सिंह ने किया।</a:t>
            </a:r>
            <a:endParaRPr lang="en-US" sz="1800" dirty="0"/>
          </a:p>
        </p:txBody>
      </p:sp>
      <p:sp>
        <p:nvSpPr>
          <p:cNvPr id="13" name="card-4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4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43</a:t>
            </a:r>
            <a:endParaRPr lang="en-US" sz="1600" dirty="0"/>
          </a:p>
        </p:txBody>
      </p:sp>
      <p:sp>
        <p:nvSpPr>
          <p:cNvPr id="16" name="fact-4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उन्नाव में 230 हेक्टेयर में नए रक्षा औद्योगिक गलियारे को मंजूरी।</a:t>
            </a:r>
            <a:endParaRPr lang="en-US" sz="1800" dirty="0"/>
          </a:p>
        </p:txBody>
      </p:sp>
      <p:sp>
        <p:nvSpPr>
          <p:cNvPr id="17" name="card-4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4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44</a:t>
            </a:r>
            <a:endParaRPr lang="en-US" sz="1600" dirty="0"/>
          </a:p>
        </p:txBody>
      </p:sp>
      <p:sp>
        <p:nvSpPr>
          <p:cNvPr id="20" name="fact-4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भारत का सबसे बड़ा AI डेटा सेंटर ग्रेटर नोएडा में AM ग्रीन ग्रुप द्वारा बनेगा।</a:t>
            </a:r>
            <a:endParaRPr lang="en-US" sz="1800" dirty="0"/>
          </a:p>
        </p:txBody>
      </p:sp>
      <p:sp>
        <p:nvSpPr>
          <p:cNvPr id="21" name="card-4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4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45</a:t>
            </a:r>
            <a:endParaRPr lang="en-US" sz="1600" dirty="0"/>
          </a:p>
        </p:txBody>
      </p:sp>
      <p:sp>
        <p:nvSpPr>
          <p:cNvPr id="24" name="fact-4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दादरी में फ्यूजीयामा पावर सिस्टम्स की 1 गीगावाट सौर सेल निर्माण सुविधा।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उद्योग, पर्यटन, खेल एवं रैंकिंग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46–50</a:t>
            </a:r>
            <a:endParaRPr lang="en-US" sz="1500" dirty="0"/>
          </a:p>
        </p:txBody>
      </p:sp>
      <p:sp>
        <p:nvSpPr>
          <p:cNvPr id="5" name="card-4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4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46</a:t>
            </a:r>
            <a:endParaRPr lang="en-US" sz="1600" dirty="0"/>
          </a:p>
        </p:txBody>
      </p:sp>
      <p:sp>
        <p:nvSpPr>
          <p:cNvPr id="8" name="fact-4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का पहला खादी प्लाज़ा — वाराणसी, उद्घाटन PM मोदी ने किया।</a:t>
            </a:r>
            <a:endParaRPr lang="en-US" sz="1800" dirty="0"/>
          </a:p>
        </p:txBody>
      </p:sp>
      <p:sp>
        <p:nvSpPr>
          <p:cNvPr id="9" name="card-4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4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47</a:t>
            </a:r>
            <a:endParaRPr lang="en-US" sz="1600" dirty="0"/>
          </a:p>
        </p:txBody>
      </p:sp>
      <p:sp>
        <p:nvSpPr>
          <p:cNvPr id="12" name="fact-4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देश का पहला ग्लास (कांच) म्यूज़ियम — फिरोजाबाद (₹47 करोड़)।</a:t>
            </a:r>
            <a:endParaRPr lang="en-US" sz="1800" dirty="0"/>
          </a:p>
        </p:txBody>
      </p:sp>
      <p:sp>
        <p:nvSpPr>
          <p:cNvPr id="13" name="card-4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4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48</a:t>
            </a:r>
            <a:endParaRPr lang="en-US" sz="1600" dirty="0"/>
          </a:p>
        </p:txBody>
      </p:sp>
      <p:sp>
        <p:nvSpPr>
          <p:cNvPr id="16" name="fact-4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पर्यटन मंत्रालय 2025 — घरेलू पर्यटकों (137 करोड़) में UP प्रथम, विदेशी पर्यटकों में चौथा।</a:t>
            </a:r>
            <a:endParaRPr lang="en-US" sz="1800" dirty="0"/>
          </a:p>
        </p:txBody>
      </p:sp>
      <p:sp>
        <p:nvSpPr>
          <p:cNvPr id="17" name="card-4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4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49</a:t>
            </a:r>
            <a:endParaRPr lang="en-US" sz="1600" dirty="0"/>
          </a:p>
        </p:txBody>
      </p:sp>
      <p:sp>
        <p:nvSpPr>
          <p:cNvPr id="20" name="fact-4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'इंडस फूड 2026' (ग्रेटर नोएडा) का उद्घाटन केंद्रीय मंत्री चिराग पासवान ने किया।</a:t>
            </a:r>
            <a:endParaRPr lang="en-US" sz="1800" dirty="0"/>
          </a:p>
        </p:txBody>
      </p:sp>
      <p:sp>
        <p:nvSpPr>
          <p:cNvPr id="21" name="card-5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5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50</a:t>
            </a:r>
            <a:endParaRPr lang="en-US" sz="1600" dirty="0"/>
          </a:p>
        </p:txBody>
      </p:sp>
      <p:sp>
        <p:nvSpPr>
          <p:cNvPr id="24" name="fact-5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72वीं सीनियर राष्ट्रीय वॉलीबॉल चैंपियनशिप — वाराणसी; विजेता: भारतीय रेलवे (पुरुष), केरल (महिला)।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उद्योग, पर्यटन, खेल एवं रैंकिंग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51–55</a:t>
            </a:r>
            <a:endParaRPr lang="en-US" sz="1500" dirty="0"/>
          </a:p>
        </p:txBody>
      </p:sp>
      <p:sp>
        <p:nvSpPr>
          <p:cNvPr id="5" name="card-5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5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51</a:t>
            </a:r>
            <a:endParaRPr lang="en-US" sz="1600" dirty="0"/>
          </a:p>
        </p:txBody>
      </p:sp>
      <p:sp>
        <p:nvSpPr>
          <p:cNvPr id="8" name="fact-5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वॉलीबॉल चैंपियनशिप के शुभंकर — 'नंदी' और 'नीरा डॉल्फिन'।</a:t>
            </a:r>
            <a:endParaRPr lang="en-US" sz="1800" dirty="0"/>
          </a:p>
        </p:txBody>
      </p:sp>
      <p:sp>
        <p:nvSpPr>
          <p:cNvPr id="9" name="card-5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5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52</a:t>
            </a:r>
            <a:endParaRPr lang="en-US" sz="1600" dirty="0"/>
          </a:p>
        </p:txBody>
      </p:sp>
      <p:sp>
        <p:nvSpPr>
          <p:cNvPr id="12" name="fact-5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AAI ग्राहक संतुष्टि सर्वे — बरेली एयरपोर्ट UP में प्रथम, देश में 7वाँ।</a:t>
            </a:r>
            <a:endParaRPr lang="en-US" sz="1800" dirty="0"/>
          </a:p>
        </p:txBody>
      </p:sp>
      <p:sp>
        <p:nvSpPr>
          <p:cNvPr id="13" name="card-5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5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53</a:t>
            </a:r>
            <a:endParaRPr lang="en-US" sz="1600" dirty="0"/>
          </a:p>
        </p:txBody>
      </p:sp>
      <p:sp>
        <p:nvSpPr>
          <p:cNvPr id="16" name="fact-5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अयोध्या एयरपोर्ट AAI सर्वे में राष्ट्रीय स्तर पर 10वें स्थान पर।</a:t>
            </a:r>
            <a:endParaRPr lang="en-US" sz="1800" dirty="0"/>
          </a:p>
        </p:txBody>
      </p:sp>
      <p:sp>
        <p:nvSpPr>
          <p:cNvPr id="17" name="card-5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5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54</a:t>
            </a:r>
            <a:endParaRPr lang="en-US" sz="1600" dirty="0"/>
          </a:p>
        </p:txBody>
      </p:sp>
      <p:sp>
        <p:nvSpPr>
          <p:cNvPr id="20" name="fact-5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वाराणसी के नमो घाट पर भारत का पहला स्वदेशी हाइड्रोजन फ्यूल सेल यात्री पोत शुरू।</a:t>
            </a:r>
            <a:endParaRPr lang="en-US" sz="1800" dirty="0"/>
          </a:p>
        </p:txBody>
      </p:sp>
      <p:sp>
        <p:nvSpPr>
          <p:cNvPr id="21" name="card-5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5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55</a:t>
            </a:r>
            <a:endParaRPr lang="en-US" sz="1600" dirty="0"/>
          </a:p>
        </p:txBody>
      </p:sp>
      <p:sp>
        <p:nvSpPr>
          <p:cNvPr id="24" name="fact-5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अमरोहा में 110 फीट ऊँचा 'अटल टावर' — UP का दूसरा सबसे ऊँचा टावर।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उद्योग, पर्यटन, खेल एवं रैंकिंग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56–60</a:t>
            </a:r>
            <a:endParaRPr lang="en-US" sz="1500" dirty="0"/>
          </a:p>
        </p:txBody>
      </p:sp>
      <p:sp>
        <p:nvSpPr>
          <p:cNvPr id="5" name="card-5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5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56</a:t>
            </a:r>
            <a:endParaRPr lang="en-US" sz="1600" dirty="0"/>
          </a:p>
        </p:txBody>
      </p:sp>
      <p:sp>
        <p:nvSpPr>
          <p:cNvPr id="8" name="fact-5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डी-रेगुलेशन 1.0 रिपोर्ट में व्यापार सरल बनाने में UP देश में प्रथम।</a:t>
            </a:r>
            <a:endParaRPr lang="en-US" sz="1800" dirty="0"/>
          </a:p>
        </p:txBody>
      </p:sp>
      <p:sp>
        <p:nvSpPr>
          <p:cNvPr id="9" name="card-5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5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57</a:t>
            </a:r>
            <a:endParaRPr lang="en-US" sz="1600" dirty="0"/>
          </a:p>
        </p:txBody>
      </p:sp>
      <p:sp>
        <p:nvSpPr>
          <p:cNvPr id="12" name="fact-5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नीति आयोग निर्यात तैयारी सूचकांक 2024 — 'लीडर स्टेट' श्रेणी में UP चौथा (62.09 स्कोर)।</a:t>
            </a:r>
            <a:endParaRPr lang="en-US" sz="1800" dirty="0"/>
          </a:p>
        </p:txBody>
      </p:sp>
      <p:sp>
        <p:nvSpPr>
          <p:cNvPr id="13" name="card-5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5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58</a:t>
            </a:r>
            <a:endParaRPr lang="en-US" sz="1600" dirty="0"/>
          </a:p>
        </p:txBody>
      </p:sp>
      <p:sp>
        <p:nvSpPr>
          <p:cNvPr id="16" name="fact-5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DPIIT स्टार्टअप रैंकिंग में UP को 'टॉप परफॉर्मर' का दर्जा।</a:t>
            </a:r>
            <a:endParaRPr lang="en-US" sz="1800" dirty="0"/>
          </a:p>
        </p:txBody>
      </p:sp>
      <p:sp>
        <p:nvSpPr>
          <p:cNvPr id="17" name="card-5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5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59</a:t>
            </a:r>
            <a:endParaRPr lang="en-US" sz="1600" dirty="0"/>
          </a:p>
        </p:txBody>
      </p:sp>
      <p:sp>
        <p:nvSpPr>
          <p:cNvPr id="20" name="fact-5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नम्बियो सेफ्टी इंडेक्स में नोएडा भारत में 13वाँ, विश्व में 234वाँ।</a:t>
            </a:r>
            <a:endParaRPr lang="en-US" sz="1800" dirty="0"/>
          </a:p>
        </p:txBody>
      </p:sp>
      <p:sp>
        <p:nvSpPr>
          <p:cNvPr id="21" name="card-6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6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60</a:t>
            </a:r>
            <a:endParaRPr lang="en-US" sz="1600" dirty="0"/>
          </a:p>
        </p:txBody>
      </p:sp>
      <p:sp>
        <p:nvSpPr>
          <p:cNvPr id="24" name="fact-6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लाल बहादुर शास्त्री की 60वीं पुण्यतिथि (11 जनवरी) — जन्म मुगलसराय, मृत्यु ताशकंद (1966)।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पुरस्कार एवं सम्मान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जनवरी 2026  ·  तथ्य 61–80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पुरस्कार एवं सम्मान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61–65</a:t>
            </a:r>
            <a:endParaRPr lang="en-US" sz="1500" dirty="0"/>
          </a:p>
        </p:txBody>
      </p:sp>
      <p:sp>
        <p:nvSpPr>
          <p:cNvPr id="5" name="card-6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6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61</a:t>
            </a:r>
            <a:endParaRPr lang="en-US" sz="1600" dirty="0"/>
          </a:p>
        </p:txBody>
      </p:sp>
      <p:sp>
        <p:nvSpPr>
          <p:cNvPr id="8" name="fact-6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ग्रुप कैप्टन शुभांशु शुक्ला (लखनऊ) को अशोक चक्र 2026 मिला।</a:t>
            </a:r>
            <a:endParaRPr lang="en-US" sz="1800" dirty="0"/>
          </a:p>
        </p:txBody>
      </p:sp>
      <p:sp>
        <p:nvSpPr>
          <p:cNvPr id="9" name="card-6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6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62</a:t>
            </a:r>
            <a:endParaRPr lang="en-US" sz="1600" dirty="0"/>
          </a:p>
        </p:txBody>
      </p:sp>
      <p:sp>
        <p:nvSpPr>
          <p:cNvPr id="12" name="fact-6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अशोक चक्र — देश का सर्वोच्च शांतिकालीन वीरता पुरस्कार।</a:t>
            </a:r>
            <a:endParaRPr lang="en-US" sz="1800" dirty="0"/>
          </a:p>
        </p:txBody>
      </p:sp>
      <p:sp>
        <p:nvSpPr>
          <p:cNvPr id="13" name="card-6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6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63</a:t>
            </a:r>
            <a:endParaRPr lang="en-US" sz="1600" dirty="0"/>
          </a:p>
        </p:txBody>
      </p:sp>
      <p:sp>
        <p:nvSpPr>
          <p:cNvPr id="16" name="fact-6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शुभांशु शुक्ला गगनयान मिशन के 4 अंतरिक्ष यात्रियों में शामिल और Axiom-4 मिशन के पायलट।</a:t>
            </a:r>
            <a:endParaRPr lang="en-US" sz="1800" dirty="0"/>
          </a:p>
        </p:txBody>
      </p:sp>
      <p:sp>
        <p:nvSpPr>
          <p:cNvPr id="17" name="card-6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6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64</a:t>
            </a:r>
            <a:endParaRPr lang="en-US" sz="1600" dirty="0"/>
          </a:p>
        </p:txBody>
      </p:sp>
      <p:sp>
        <p:nvSpPr>
          <p:cNvPr id="20" name="fact-6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 पुरस्कार 2026 में उत्तर प्रदेश से कुल 11 विजेता।</a:t>
            </a:r>
            <a:endParaRPr lang="en-US" sz="1800" dirty="0"/>
          </a:p>
        </p:txBody>
      </p:sp>
      <p:sp>
        <p:nvSpPr>
          <p:cNvPr id="21" name="card-6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6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65</a:t>
            </a:r>
            <a:endParaRPr lang="en-US" sz="1600" dirty="0"/>
          </a:p>
        </p:txBody>
      </p:sp>
      <p:sp>
        <p:nvSpPr>
          <p:cNvPr id="24" name="fact-6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 विभूषण — डॉ. एन. राजम (वायलिन, बनारस घराना); वायलिन पर 'गायकी अंग' विकसित किया।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पुरस्कार एवं सम्मान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66–70</a:t>
            </a:r>
            <a:endParaRPr lang="en-US" sz="1500" dirty="0"/>
          </a:p>
        </p:txBody>
      </p:sp>
      <p:sp>
        <p:nvSpPr>
          <p:cNvPr id="5" name="card-6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6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66</a:t>
            </a:r>
            <a:endParaRPr lang="en-US" sz="1600" dirty="0"/>
          </a:p>
        </p:txBody>
      </p:sp>
      <p:sp>
        <p:nvSpPr>
          <p:cNvPr id="8" name="fact-6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डॉ. मंगला कपूर (BHU), जिन्हें 'काशी की लता' कहा जाता है।</a:t>
            </a:r>
            <a:endParaRPr lang="en-US" sz="1800" dirty="0"/>
          </a:p>
        </p:txBody>
      </p:sp>
      <p:sp>
        <p:nvSpPr>
          <p:cNvPr id="9" name="card-6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6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67</a:t>
            </a:r>
            <a:endParaRPr lang="en-US" sz="1600" dirty="0"/>
          </a:p>
        </p:txBody>
      </p:sp>
      <p:sp>
        <p:nvSpPr>
          <p:cNvPr id="12" name="fact-6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प्रो. श्याम सुंदर (IMS-BHU), कालाजार उपचार में योगदान।</a:t>
            </a:r>
            <a:endParaRPr lang="en-US" sz="1800" dirty="0"/>
          </a:p>
        </p:txBody>
      </p:sp>
      <p:sp>
        <p:nvSpPr>
          <p:cNvPr id="13" name="card-6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6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68</a:t>
            </a:r>
            <a:endParaRPr lang="en-US" sz="1600" dirty="0"/>
          </a:p>
        </p:txBody>
      </p:sp>
      <p:sp>
        <p:nvSpPr>
          <p:cNvPr id="16" name="fact-6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डॉ. केवल कृष्ण ठकराल (कानपुर), आयुर्वेद; अस्थमा में 'कर्ण वेधन' तकनीक।</a:t>
            </a:r>
            <a:endParaRPr lang="en-US" sz="1800" dirty="0"/>
          </a:p>
        </p:txBody>
      </p:sp>
      <p:sp>
        <p:nvSpPr>
          <p:cNvPr id="17" name="card-6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6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69</a:t>
            </a:r>
            <a:endParaRPr lang="en-US" sz="1600" dirty="0"/>
          </a:p>
        </p:txBody>
      </p:sp>
      <p:sp>
        <p:nvSpPr>
          <p:cNvPr id="20" name="fact-6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चिरंजी लाल यादव (मुरादाबाद), पीतल नक्काशी कला।</a:t>
            </a:r>
            <a:endParaRPr lang="en-US" sz="1800" dirty="0"/>
          </a:p>
        </p:txBody>
      </p:sp>
      <p:sp>
        <p:nvSpPr>
          <p:cNvPr id="21" name="card-7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7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70</a:t>
            </a:r>
            <a:endParaRPr lang="en-US" sz="1600" dirty="0"/>
          </a:p>
        </p:txBody>
      </p:sp>
      <p:sp>
        <p:nvSpPr>
          <p:cNvPr id="24" name="fact-7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प्रवीण कुमार (नोएडा), पैरा हाई जंप; पेरिस पैरालंपिक 2024 में स्वर्ण (T64)।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पुरस्कार एवं सम्मान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71–75</a:t>
            </a:r>
            <a:endParaRPr lang="en-US" sz="1500" dirty="0"/>
          </a:p>
        </p:txBody>
      </p:sp>
      <p:sp>
        <p:nvSpPr>
          <p:cNvPr id="5" name="card-7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7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71</a:t>
            </a:r>
            <a:endParaRPr lang="en-US" sz="1600" dirty="0"/>
          </a:p>
        </p:txBody>
      </p:sp>
      <p:sp>
        <p:nvSpPr>
          <p:cNvPr id="8" name="fact-7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अशोक कुमार सिंह, चावल अनुसंधान व जीनोम-एडिटेड किस्में।</a:t>
            </a:r>
            <a:endParaRPr lang="en-US" sz="1800" dirty="0"/>
          </a:p>
        </p:txBody>
      </p:sp>
      <p:sp>
        <p:nvSpPr>
          <p:cNvPr id="9" name="card-7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7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72</a:t>
            </a:r>
            <a:endParaRPr lang="en-US" sz="1600" dirty="0"/>
          </a:p>
        </p:txBody>
      </p:sp>
      <p:sp>
        <p:nvSpPr>
          <p:cNvPr id="12" name="fact-7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(मरणोपरांत) — रघुपत सिंह (मुरादाबाद), 100+ नई फसल किस्में विकसित कीं।</a:t>
            </a:r>
            <a:endParaRPr lang="en-US" sz="1800" dirty="0"/>
          </a:p>
        </p:txBody>
      </p:sp>
      <p:sp>
        <p:nvSpPr>
          <p:cNvPr id="13" name="card-7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7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73</a:t>
            </a:r>
            <a:endParaRPr lang="en-US" sz="1600" dirty="0"/>
          </a:p>
        </p:txBody>
      </p:sp>
      <p:sp>
        <p:nvSpPr>
          <p:cNvPr id="16" name="fact-7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प्रो. राजेंद्र प्रसाद (KGMU), TB व छाती रोग उपचार।</a:t>
            </a:r>
            <a:endParaRPr lang="en-US" sz="1800" dirty="0"/>
          </a:p>
        </p:txBody>
      </p:sp>
      <p:sp>
        <p:nvSpPr>
          <p:cNvPr id="17" name="card-7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7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74</a:t>
            </a:r>
            <a:endParaRPr lang="en-US" sz="1600" dirty="0"/>
          </a:p>
        </p:txBody>
      </p:sp>
      <p:sp>
        <p:nvSpPr>
          <p:cNvPr id="20" name="fact-7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बी.आर. मणि (ASI), अयोध्या व सारनाथ की खुदाई का नेतृत्व।</a:t>
            </a:r>
            <a:endParaRPr lang="en-US" sz="1800" dirty="0"/>
          </a:p>
        </p:txBody>
      </p:sp>
      <p:sp>
        <p:nvSpPr>
          <p:cNvPr id="21" name="card-7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7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75</a:t>
            </a:r>
            <a:endParaRPr lang="en-US" sz="1600" dirty="0"/>
          </a:p>
        </p:txBody>
      </p:sp>
      <p:sp>
        <p:nvSpPr>
          <p:cNvPr id="24" name="fact-7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पद्मश्री — अनिल कुमार रस्तोगी (लखनऊ), रंगमंच; पहले CDRI में वैज्ञानिक थे।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पुरस्कार एवं सम्मान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76–80</a:t>
            </a:r>
            <a:endParaRPr lang="en-US" sz="1500" dirty="0"/>
          </a:p>
        </p:txBody>
      </p:sp>
      <p:sp>
        <p:nvSpPr>
          <p:cNvPr id="5" name="card-7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7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76</a:t>
            </a:r>
            <a:endParaRPr lang="en-US" sz="1600" dirty="0"/>
          </a:p>
        </p:txBody>
      </p:sp>
      <p:sp>
        <p:nvSpPr>
          <p:cNvPr id="8" name="fact-7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उत्तर प्रदेश गौरव सम्मान की पुरस्कार राशि — ₹11 लाख; 2026 में 5 लोगों को मिला।</a:t>
            </a:r>
            <a:endParaRPr lang="en-US" sz="1800" dirty="0"/>
          </a:p>
        </p:txBody>
      </p:sp>
      <p:sp>
        <p:nvSpPr>
          <p:cNvPr id="9" name="card-7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7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77</a:t>
            </a:r>
            <a:endParaRPr lang="en-US" sz="1600" dirty="0"/>
          </a:p>
        </p:txBody>
      </p:sp>
      <p:sp>
        <p:nvSpPr>
          <p:cNvPr id="12" name="fact-7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गौरव सम्मान 2026 — शुभांशु शुक्ला, अलख पांडे, डॉ. हरिओम पवार, रश्मि आर्या, डॉ. सुधांशु सिंह।</a:t>
            </a:r>
            <a:endParaRPr lang="en-US" sz="1800" dirty="0"/>
          </a:p>
        </p:txBody>
      </p:sp>
      <p:sp>
        <p:nvSpPr>
          <p:cNvPr id="13" name="card-7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7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78</a:t>
            </a:r>
            <a:endParaRPr lang="en-US" sz="1600" dirty="0"/>
          </a:p>
        </p:txBody>
      </p:sp>
      <p:sp>
        <p:nvSpPr>
          <p:cNvPr id="16" name="fact-7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अलख पांडे (प्रयागराज) — 'Physics Wallah' के संस्थापक; डॉ. हरिओम पवार — मेरठ के वीर रस कवि।</a:t>
            </a:r>
            <a:endParaRPr lang="en-US" sz="1800" dirty="0"/>
          </a:p>
        </p:txBody>
      </p:sp>
      <p:sp>
        <p:nvSpPr>
          <p:cNvPr id="17" name="card-7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7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79</a:t>
            </a:r>
            <a:endParaRPr lang="en-US" sz="1600" dirty="0"/>
          </a:p>
        </p:txBody>
      </p:sp>
      <p:sp>
        <p:nvSpPr>
          <p:cNvPr id="20" name="fact-7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शिल्प गुरु सम्मान 2024 — मोहम्मद दिलशाद (सहारनपुर, काष्ठकला)।</a:t>
            </a:r>
            <a:endParaRPr lang="en-US" sz="1800" dirty="0"/>
          </a:p>
        </p:txBody>
      </p:sp>
      <p:sp>
        <p:nvSpPr>
          <p:cNvPr id="21" name="card-8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8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80</a:t>
            </a:r>
            <a:endParaRPr lang="en-US" sz="1600" dirty="0"/>
          </a:p>
        </p:txBody>
      </p:sp>
      <p:sp>
        <p:nvSpPr>
          <p:cNvPr id="24" name="fact-8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गोरखपुर महोत्सव में 6 लोगों को 'गोरखपुर रत्न' सम्मान दिया गया।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05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UP बजट एवं फरवरी 2026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फरवरी 2026  ·  तथ्य 81–100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बजट एवं फरवरी 2026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81–85</a:t>
            </a:r>
            <a:endParaRPr lang="en-US" sz="1500" dirty="0"/>
          </a:p>
        </p:txBody>
      </p:sp>
      <p:sp>
        <p:nvSpPr>
          <p:cNvPr id="5" name="card-8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8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81</a:t>
            </a:r>
            <a:endParaRPr lang="en-US" sz="1600" dirty="0"/>
          </a:p>
        </p:txBody>
      </p:sp>
      <p:sp>
        <p:nvSpPr>
          <p:cNvPr id="8" name="fact-8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बजट 2026-27 — ₹9,12,696.35 करोड़, अब तक का सबसे बड़ा बजट।</a:t>
            </a:r>
            <a:endParaRPr lang="en-US" sz="1800" dirty="0"/>
          </a:p>
        </p:txBody>
      </p:sp>
      <p:sp>
        <p:nvSpPr>
          <p:cNvPr id="9" name="card-8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8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82</a:t>
            </a:r>
            <a:endParaRPr lang="en-US" sz="1600" dirty="0"/>
          </a:p>
        </p:txBody>
      </p:sp>
      <p:sp>
        <p:nvSpPr>
          <p:cNvPr id="12" name="fact-8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बजट 2026-27 वित्त मंत्री सुरेश कुमार खन्ना ने पेश किया; पिछले वर्ष से 12.9% अधिक।</a:t>
            </a:r>
            <a:endParaRPr lang="en-US" sz="1800" dirty="0"/>
          </a:p>
        </p:txBody>
      </p:sp>
      <p:sp>
        <p:nvSpPr>
          <p:cNvPr id="13" name="card-8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8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83</a:t>
            </a:r>
            <a:endParaRPr lang="en-US" sz="1600" dirty="0"/>
          </a:p>
        </p:txBody>
      </p:sp>
      <p:sp>
        <p:nvSpPr>
          <p:cNvPr id="16" name="fact-8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लक्ष्य — 2029-30 तक UP को 1 ट्रिलियन डॉलर की अर्थव्यवस्था बनाना।</a:t>
            </a:r>
            <a:endParaRPr lang="en-US" sz="1800" dirty="0"/>
          </a:p>
        </p:txBody>
      </p:sp>
      <p:sp>
        <p:nvSpPr>
          <p:cNvPr id="17" name="card-8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8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84</a:t>
            </a:r>
            <a:endParaRPr lang="en-US" sz="1600" dirty="0"/>
          </a:p>
        </p:txBody>
      </p:sp>
      <p:sp>
        <p:nvSpPr>
          <p:cNvPr id="20" name="fact-8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बजट में राजकोषीय घाटा GSDP का 3% और प्रति व्यक्ति आय ₹1,09,844 बताई गई।</a:t>
            </a:r>
            <a:endParaRPr lang="en-US" sz="1800" dirty="0"/>
          </a:p>
        </p:txBody>
      </p:sp>
      <p:sp>
        <p:nvSpPr>
          <p:cNvPr id="21" name="card-8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8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85</a:t>
            </a:r>
            <a:endParaRPr lang="en-US" sz="1600" dirty="0"/>
          </a:p>
        </p:txBody>
      </p:sp>
      <p:sp>
        <p:nvSpPr>
          <p:cNvPr id="24" name="fact-8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अपना अलग आर्थिक सर्वेक्षण (2025-26) पेश करने वाला देश का पहला राज्य बना।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बजट एवं फरवरी 2026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86–90</a:t>
            </a:r>
            <a:endParaRPr lang="en-US" sz="1500" dirty="0"/>
          </a:p>
        </p:txBody>
      </p:sp>
      <p:sp>
        <p:nvSpPr>
          <p:cNvPr id="5" name="card-8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8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86</a:t>
            </a:r>
            <a:endParaRPr lang="en-US" sz="1600" dirty="0"/>
          </a:p>
        </p:txBody>
      </p:sp>
      <p:sp>
        <p:nvSpPr>
          <p:cNvPr id="8" name="fact-8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भारत की अर्थव्यवस्था में UP का योगदान बढ़कर 9.1% हुआ।</a:t>
            </a:r>
            <a:endParaRPr lang="en-US" sz="1800" dirty="0"/>
          </a:p>
        </p:txBody>
      </p:sp>
      <p:sp>
        <p:nvSpPr>
          <p:cNvPr id="9" name="card-8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8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87</a:t>
            </a:r>
            <a:endParaRPr lang="en-US" sz="1600" dirty="0"/>
          </a:p>
        </p:txBody>
      </p:sp>
      <p:sp>
        <p:nvSpPr>
          <p:cNvPr id="12" name="fact-8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₹100 करोड़ के बजट से 'स्टेट डेटा सेंटर अथॉरिटी' बनी; लक्ष्य 2030 तक 5 GW क्षमता।</a:t>
            </a:r>
            <a:endParaRPr lang="en-US" sz="1800" dirty="0"/>
          </a:p>
        </p:txBody>
      </p:sp>
      <p:sp>
        <p:nvSpPr>
          <p:cNvPr id="13" name="card-8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8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88</a:t>
            </a:r>
            <a:endParaRPr lang="en-US" sz="1600" dirty="0"/>
          </a:p>
        </p:txBody>
      </p:sp>
      <p:sp>
        <p:nvSpPr>
          <p:cNvPr id="16" name="fact-8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'मिशन कर्मयोगी' के तहत सभी 17 लाख कर्मचारियों के लिए AI कोर्स अनिवार्य।</a:t>
            </a:r>
            <a:endParaRPr lang="en-US" sz="1800" dirty="0"/>
          </a:p>
        </p:txBody>
      </p:sp>
      <p:sp>
        <p:nvSpPr>
          <p:cNvPr id="17" name="card-8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8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89</a:t>
            </a:r>
            <a:endParaRPr lang="en-US" sz="1600" dirty="0"/>
          </a:p>
        </p:txBody>
      </p:sp>
      <p:sp>
        <p:nvSpPr>
          <p:cNvPr id="20" name="fact-8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भारत में पहली बार UP ने 3 साल (2026-29) की अलग आबकारी निर्यात नीति बनाई।</a:t>
            </a:r>
            <a:endParaRPr lang="en-US" sz="1800" dirty="0"/>
          </a:p>
        </p:txBody>
      </p:sp>
      <p:sp>
        <p:nvSpPr>
          <p:cNvPr id="21" name="card-9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9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90</a:t>
            </a:r>
            <a:endParaRPr lang="en-US" sz="1600" dirty="0"/>
          </a:p>
        </p:txBody>
      </p:sp>
      <p:sp>
        <p:nvSpPr>
          <p:cNvPr id="24" name="fact-9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वृद्धावस्था, निराश्रित महिला व दिव्यांग पेंशन ₹1000 से बढ़ाकर ₹1500 प्रतिमाह।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बजट एवं फरवरी 2026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91–95</a:t>
            </a:r>
            <a:endParaRPr lang="en-US" sz="1500" dirty="0"/>
          </a:p>
        </p:txBody>
      </p:sp>
      <p:sp>
        <p:nvSpPr>
          <p:cNvPr id="5" name="card-91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91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91</a:t>
            </a:r>
            <a:endParaRPr lang="en-US" sz="1600" dirty="0"/>
          </a:p>
        </p:txBody>
      </p:sp>
      <p:sp>
        <p:nvSpPr>
          <p:cNvPr id="8" name="fact-91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'सप्त ऋषि प्रोजेक्ट' के तहत काशी में 7 नए घाट बनेंगे।</a:t>
            </a:r>
            <a:endParaRPr lang="en-US" sz="1800" dirty="0"/>
          </a:p>
        </p:txBody>
      </p:sp>
      <p:sp>
        <p:nvSpPr>
          <p:cNvPr id="9" name="card-92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92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92</a:t>
            </a:r>
            <a:endParaRPr lang="en-US" sz="1600" dirty="0"/>
          </a:p>
        </p:txBody>
      </p:sp>
      <p:sp>
        <p:nvSpPr>
          <p:cNvPr id="12" name="fact-92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'गंगा परियोजना' — 20 लाख घरों तक हाई-स्पीड ब्रॉडबैंड पहुँचाने की योजना।</a:t>
            </a:r>
            <a:endParaRPr lang="en-US" sz="1800" dirty="0"/>
          </a:p>
        </p:txBody>
      </p:sp>
      <p:sp>
        <p:nvSpPr>
          <p:cNvPr id="13" name="card-93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93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93</a:t>
            </a:r>
            <a:endParaRPr lang="en-US" sz="1600" dirty="0"/>
          </a:p>
        </p:txBody>
      </p:sp>
      <p:sp>
        <p:nvSpPr>
          <p:cNvPr id="16" name="fact-93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बाराबंकी जिले के लिए अलग विकास प्राधिकरण बनाने की घोषणा।</a:t>
            </a:r>
            <a:endParaRPr lang="en-US" sz="1800" dirty="0"/>
          </a:p>
        </p:txBody>
      </p:sp>
      <p:sp>
        <p:nvSpPr>
          <p:cNvPr id="17" name="card-94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94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94</a:t>
            </a:r>
            <a:endParaRPr lang="en-US" sz="1600" dirty="0"/>
          </a:p>
        </p:txBody>
      </p:sp>
      <p:sp>
        <p:nvSpPr>
          <p:cNvPr id="20" name="fact-94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 दूध, चीनी, आलू, सब्जी और शहद उत्पादन में देश में प्रथम; ऊन उत्पादन में 8वाँ।</a:t>
            </a:r>
            <a:endParaRPr lang="en-US" sz="1800" dirty="0"/>
          </a:p>
        </p:txBody>
      </p:sp>
      <p:sp>
        <p:nvSpPr>
          <p:cNvPr id="21" name="card-95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95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95</a:t>
            </a:r>
            <a:endParaRPr lang="en-US" sz="1600" dirty="0"/>
          </a:p>
        </p:txBody>
      </p:sp>
      <p:sp>
        <p:nvSpPr>
          <p:cNvPr id="24" name="fact-95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उत्तर भारत का पहला सेमीकंडक्टर प्लांट — ग्रेटर नोएडा (HCL-Foxconn, ₹3700 करोड़), 2028 तक शुरू।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बजट एवं फरवरी 2026</a:t>
            </a:r>
            <a:endParaRPr lang="en-US" sz="3000" dirty="0"/>
          </a:p>
        </p:txBody>
      </p:sp>
      <p:sp>
        <p:nvSpPr>
          <p:cNvPr id="3" name="range-pill"/>
          <p:cNvSpPr/>
          <p:nvPr/>
        </p:nvSpPr>
        <p:spPr>
          <a:xfrm>
            <a:off x="9921240" y="4114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411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तथ्य 96–100</a:t>
            </a:r>
            <a:endParaRPr lang="en-US" sz="1500" dirty="0"/>
          </a:p>
        </p:txBody>
      </p:sp>
      <p:sp>
        <p:nvSpPr>
          <p:cNvPr id="5" name="card-96"/>
          <p:cNvSpPr/>
          <p:nvPr/>
        </p:nvSpPr>
        <p:spPr>
          <a:xfrm>
            <a:off x="548640" y="1280160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6" name="num-96"/>
          <p:cNvSpPr/>
          <p:nvPr/>
        </p:nvSpPr>
        <p:spPr>
          <a:xfrm>
            <a:off x="713232" y="140817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08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96</a:t>
            </a:r>
            <a:endParaRPr lang="en-US" sz="1600" dirty="0"/>
          </a:p>
        </p:txBody>
      </p:sp>
      <p:sp>
        <p:nvSpPr>
          <p:cNvPr id="8" name="fact-96"/>
          <p:cNvSpPr txBox="1"/>
          <p:nvPr/>
        </p:nvSpPr>
        <p:spPr>
          <a:xfrm>
            <a:off x="1481328" y="1316736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लखनऊ में 'IBM AI गवर्नमेंट टेक्नोलॉजी इनोवेशन सेंटर' का उद्घाटन।</a:t>
            </a:r>
            <a:endParaRPr lang="en-US" sz="1800" dirty="0"/>
          </a:p>
        </p:txBody>
      </p:sp>
      <p:sp>
        <p:nvSpPr>
          <p:cNvPr id="9" name="card-97"/>
          <p:cNvSpPr/>
          <p:nvPr/>
        </p:nvSpPr>
        <p:spPr>
          <a:xfrm>
            <a:off x="548640" y="2267712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0" name="num-97"/>
          <p:cNvSpPr/>
          <p:nvPr/>
        </p:nvSpPr>
        <p:spPr>
          <a:xfrm>
            <a:off x="713232" y="239572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97</a:t>
            </a:r>
            <a:endParaRPr lang="en-US" sz="1600" dirty="0"/>
          </a:p>
        </p:txBody>
      </p:sp>
      <p:sp>
        <p:nvSpPr>
          <p:cNvPr id="12" name="fact-97"/>
          <p:cNvSpPr txBox="1"/>
          <p:nvPr/>
        </p:nvSpPr>
        <p:spPr>
          <a:xfrm>
            <a:off x="1481328" y="2304288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PM MITRA पार्क — लखनऊ-हरदोई रोड पर स्थापित हो रहा है।</a:t>
            </a:r>
            <a:endParaRPr lang="en-US" sz="1800" dirty="0"/>
          </a:p>
        </p:txBody>
      </p:sp>
      <p:sp>
        <p:nvSpPr>
          <p:cNvPr id="13" name="card-98"/>
          <p:cNvSpPr/>
          <p:nvPr/>
        </p:nvSpPr>
        <p:spPr>
          <a:xfrm>
            <a:off x="548640" y="325526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4" name="num-98"/>
          <p:cNvSpPr/>
          <p:nvPr/>
        </p:nvSpPr>
        <p:spPr>
          <a:xfrm>
            <a:off x="713232" y="33832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383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98</a:t>
            </a:r>
            <a:endParaRPr lang="en-US" sz="1600" dirty="0"/>
          </a:p>
        </p:txBody>
      </p:sp>
      <p:sp>
        <p:nvSpPr>
          <p:cNvPr id="16" name="fact-98"/>
          <p:cNvSpPr txBox="1"/>
          <p:nvPr/>
        </p:nvSpPr>
        <p:spPr>
          <a:xfrm>
            <a:off x="1481328" y="3291840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भारत का पहला 'गौ संस्कृति संग्रहालय' — मथुरा (पशु चिकित्सा विश्वविद्यालय परिसर)।</a:t>
            </a:r>
            <a:endParaRPr lang="en-US" sz="1800" dirty="0"/>
          </a:p>
        </p:txBody>
      </p:sp>
      <p:sp>
        <p:nvSpPr>
          <p:cNvPr id="17" name="card-99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18" name="num-99"/>
          <p:cNvSpPr/>
          <p:nvPr/>
        </p:nvSpPr>
        <p:spPr>
          <a:xfrm>
            <a:off x="713232" y="43708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99</a:t>
            </a:r>
            <a:endParaRPr lang="en-US" sz="1600" dirty="0"/>
          </a:p>
        </p:txBody>
      </p:sp>
      <p:sp>
        <p:nvSpPr>
          <p:cNvPr id="20" name="fact-99"/>
          <p:cNvSpPr txBox="1"/>
          <p:nvPr/>
        </p:nvSpPr>
        <p:spPr>
          <a:xfrm>
            <a:off x="1481328" y="4279392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आगरा के 'मुगल म्यूज़ियम' का नाम बदलकर 'छत्रपति शिवाजी महाराज म्यूज़ियम' किया गया।</a:t>
            </a:r>
            <a:endParaRPr lang="en-US" sz="1800" dirty="0"/>
          </a:p>
        </p:txBody>
      </p:sp>
      <p:sp>
        <p:nvSpPr>
          <p:cNvPr id="21" name="card-100"/>
          <p:cNvSpPr/>
          <p:nvPr/>
        </p:nvSpPr>
        <p:spPr>
          <a:xfrm>
            <a:off x="548640" y="5230368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50800" dist="19050" dir="5400000">
              <a:srgbClr val="1B1F3B">
                <a:alpha val="12000"/>
              </a:srgbClr>
            </a:outerShdw>
          </a:effectLst>
        </p:spPr>
      </p:sp>
      <p:sp>
        <p:nvSpPr>
          <p:cNvPr id="22" name="num-100"/>
          <p:cNvSpPr/>
          <p:nvPr/>
        </p:nvSpPr>
        <p:spPr>
          <a:xfrm>
            <a:off x="713232" y="535838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358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100</a:t>
            </a:r>
            <a:endParaRPr lang="en-US" sz="1600" dirty="0"/>
          </a:p>
        </p:txBody>
      </p:sp>
      <p:sp>
        <p:nvSpPr>
          <p:cNvPr id="24" name="fact-100"/>
          <p:cNvSpPr txBox="1"/>
          <p:nvPr/>
        </p:nvSpPr>
        <p:spPr>
          <a:xfrm>
            <a:off x="1481328" y="5266944"/>
            <a:ext cx="10012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सूरजकुंड अंतरराष्ट्रीय शिल्प मेले में मेघालय के साथ UP थीम राज्य बना।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circle"/>
          <p:cNvSpPr/>
          <p:nvPr/>
        </p:nvSpPr>
        <p:spPr>
          <a:xfrm>
            <a:off x="4270248" y="822960"/>
            <a:ext cx="3657600" cy="365760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70248" y="82296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</a:rPr>
              <a:t>✓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रोज़ ऐसे ही तथ्य और क्विज़ के लिए जुड़ें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Telegram 👉 @upssscalert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SSSC ALERT">
  <a:themeElements>
    <a:clrScheme name="UPSSSC ALERT">
      <a:dk1>
        <a:srgbClr val="1B1F3B"/>
      </a:dk1>
      <a:lt1>
        <a:srgbClr val="FFFFFF"/>
      </a:lt1>
      <a:dk2>
        <a:srgbClr val="2A3163"/>
      </a:dk2>
      <a:lt2>
        <a:srgbClr val="F3F5FA"/>
      </a:lt2>
      <a:accent1>
        <a:srgbClr val="F28C28"/>
      </a:accent1>
      <a:accent2>
        <a:srgbClr val="1B1F3B"/>
      </a:accent2>
      <a:accent3>
        <a:srgbClr val="FFD08A"/>
      </a:accent3>
      <a:accent4>
        <a:srgbClr val="5B6BB5"/>
      </a:accent4>
      <a:accent5>
        <a:srgbClr val="E8EBF5"/>
      </a:accent5>
      <a:accent6>
        <a:srgbClr val="2BA36B"/>
      </a:accent6>
      <a:hlink>
        <a:srgbClr val="F28C28"/>
      </a:hlink>
      <a:folHlink>
        <a:srgbClr val="5B6BB5"/>
      </a:folHlink>
    </a:clrScheme>
    <a:fontScheme name="UPSSSC ALERT">
      <a:majorFont>
        <a:latin typeface="Nirmal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rmal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 करेंट अफेयर्स 2026 — 100 तथ्य</dc:title>
  <dc:subject>PptxGenJS Presentation</dc:subject>
  <dc:creator>UPSSSC ALERT</dc:creator>
  <cp:lastModifiedBy>UPSSSC ALERT</cp:lastModifiedBy>
  <cp:revision>1</cp:revision>
  <dcterms:created xsi:type="dcterms:W3CDTF">2026-10-26T17:27:44Z</dcterms:created>
  <dcterms:modified xsi:type="dcterms:W3CDTF">2026-10-26T17:27:44Z</dcterms:modified>
</cp:coreProperties>
</file>